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 Bold" charset="1" panose="00000800000000000000"/>
      <p:regular r:id="rId13"/>
    </p:embeddedFont>
    <p:embeddedFont>
      <p:font typeface="Cy Grotesk Grand Bold" charset="1" panose="00000807000000000000"/>
      <p:regular r:id="rId14"/>
    </p:embeddedFont>
    <p:embeddedFont>
      <p:font typeface="Telegraf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62625" y="5747152"/>
            <a:ext cx="12362751" cy="41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6"/>
              </a:lnSpc>
            </a:pPr>
            <a:r>
              <a:rPr lang="en-US" b="true" sz="2226" spc="572">
                <a:solidFill>
                  <a:srgbClr val="1487B8"/>
                </a:solidFill>
                <a:latin typeface="Telegraf Bold"/>
                <a:ea typeface="Telegraf Bold"/>
                <a:cs typeface="Telegraf Bold"/>
                <a:sym typeface="Telegraf Bold"/>
              </a:rPr>
              <a:t>Machine Learning Module: The Brain Behind SmartStock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014137" y="9892464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5"/>
                </a:lnTo>
                <a:lnTo>
                  <a:pt x="0" y="1101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241" y="3284901"/>
            <a:ext cx="16339023" cy="22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b="true" sz="6406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SMARTSTOCK INVENTORY</a:t>
            </a:r>
          </a:p>
          <a:p>
            <a:pPr algn="ctr">
              <a:lnSpc>
                <a:spcPts val="8969"/>
              </a:lnSpc>
            </a:pPr>
            <a:r>
              <a:rPr lang="en-US" sz="6406" b="true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Optimization for Retail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22524" y="10036091"/>
            <a:ext cx="3086100" cy="407256"/>
            <a:chOff x="0" y="0"/>
            <a:chExt cx="812800" cy="1072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645563" y="8439411"/>
            <a:ext cx="3952988" cy="95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6"/>
              </a:lnSpc>
            </a:pPr>
            <a:r>
              <a:rPr lang="en-US" b="true" sz="2626" spc="126">
                <a:solidFill>
                  <a:srgbClr val="1487B8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Presented by:</a:t>
            </a:r>
          </a:p>
          <a:p>
            <a:pPr algn="just">
              <a:lnSpc>
                <a:spcPts val="3676"/>
              </a:lnSpc>
            </a:pPr>
            <a:r>
              <a:rPr lang="en-US" b="true" sz="2626" spc="126">
                <a:solidFill>
                  <a:srgbClr val="1487B8"/>
                </a:solidFill>
                <a:latin typeface="Telegraf Bold"/>
                <a:ea typeface="Telegraf Bold"/>
                <a:cs typeface="Telegraf Bold"/>
                <a:sym typeface="Telegraf Bold"/>
              </a:rPr>
              <a:t>Aman Kumar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6312" y="8439411"/>
            <a:ext cx="4981688" cy="14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6"/>
              </a:lnSpc>
            </a:pPr>
            <a:r>
              <a:rPr lang="en-US" b="true" sz="2626" spc="126">
                <a:solidFill>
                  <a:srgbClr val="1487B8"/>
                </a:solidFill>
                <a:latin typeface="Telegraf Bold"/>
                <a:ea typeface="Telegraf Bold"/>
                <a:cs typeface="Telegraf Bold"/>
                <a:sym typeface="Telegraf Bold"/>
              </a:rPr>
              <a:t>Guided by:</a:t>
            </a:r>
          </a:p>
          <a:p>
            <a:pPr algn="just">
              <a:lnSpc>
                <a:spcPts val="3676"/>
              </a:lnSpc>
            </a:pPr>
            <a:r>
              <a:rPr lang="en-US" b="true" sz="2626" spc="126">
                <a:solidFill>
                  <a:srgbClr val="1487B8"/>
                </a:solidFill>
                <a:latin typeface="Telegraf Bold"/>
                <a:ea typeface="Telegraf Bold"/>
                <a:cs typeface="Telegraf Bold"/>
                <a:sym typeface="Telegraf Bold"/>
              </a:rPr>
              <a:t>shakthi Gopalakrishnan</a:t>
            </a:r>
          </a:p>
          <a:p>
            <a:pPr algn="just">
              <a:lnSpc>
                <a:spcPts val="367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45440" y="2384406"/>
            <a:ext cx="12397119" cy="76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</a:pPr>
            <a:r>
              <a:rPr lang="en-US" b="true" sz="4514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DATASET &amp; DATA INGESTION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99016" y="3400532"/>
            <a:ext cx="13889968" cy="3649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806"/>
              </a:lnSpc>
              <a:buFont typeface="Arial"/>
              <a:buChar char="•"/>
            </a:pPr>
            <a:r>
              <a:rPr lang="en-US" b="true" sz="2700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Source</a:t>
            </a: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: We utilize the "Store Sales Forecast" dataset hosted on Hugging Face (Rodrigo2204).</a:t>
            </a:r>
          </a:p>
          <a:p>
            <a:pPr algn="l" marL="582930" indent="-291465" lvl="1">
              <a:lnSpc>
                <a:spcPts val="4806"/>
              </a:lnSpc>
              <a:buFont typeface="Arial"/>
              <a:buChar char="•"/>
            </a:pPr>
            <a:r>
              <a:rPr lang="en-US" b="true" sz="2700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Type:</a:t>
            </a: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The system ingests historical sales records.</a:t>
            </a:r>
          </a:p>
          <a:p>
            <a:pPr algn="l" marL="582930" indent="-291465" lvl="1">
              <a:lnSpc>
                <a:spcPts val="4806"/>
              </a:lnSpc>
              <a:buFont typeface="Arial"/>
              <a:buChar char="•"/>
            </a:pPr>
            <a:r>
              <a:rPr lang="en-US" b="true" sz="2700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Objective: </a:t>
            </a: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To transform raw historical data into actionable future predictions.</a:t>
            </a:r>
          </a:p>
          <a:p>
            <a:pPr algn="l">
              <a:lnSpc>
                <a:spcPts val="4806"/>
              </a:lnSpc>
            </a:pP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      </a:t>
            </a: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"Our model fetches historical sales data directly from Hugging Face. We use this past performance data to analyze trends and accurately predict future demand."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7971" y="1357312"/>
            <a:ext cx="9332058" cy="156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</a:pPr>
            <a:r>
              <a:rPr lang="en-US" b="true" sz="4514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FEATURE ENGINEERING (DATA PROCESSING)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71251" y="3170682"/>
            <a:ext cx="14488049" cy="608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806"/>
              </a:lnSpc>
              <a:buFont typeface="Arial"/>
              <a:buChar char="•"/>
            </a:pPr>
            <a:r>
              <a:rPr lang="en-US" b="true" sz="2700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Time-Series Extraction: </a:t>
            </a: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The system breaks down dates into key features:</a:t>
            </a:r>
          </a:p>
          <a:p>
            <a:pPr algn="l" marL="1165860" indent="-388620" lvl="2">
              <a:lnSpc>
                <a:spcPts val="4806"/>
              </a:lnSpc>
              <a:buFont typeface="Arial"/>
              <a:buChar char="⚬"/>
            </a:pP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Year, Month, Day, and Day of the Week.</a:t>
            </a:r>
          </a:p>
          <a:p>
            <a:pPr algn="l" marL="582930" indent="-291465" lvl="1">
              <a:lnSpc>
                <a:spcPts val="4806"/>
              </a:lnSpc>
              <a:buFont typeface="Arial"/>
              <a:buChar char="•"/>
            </a:pPr>
            <a:r>
              <a:rPr lang="en-US" b="true" sz="2700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Encoding:</a:t>
            </a:r>
          </a:p>
          <a:p>
            <a:pPr algn="l" marL="1165860" indent="-388620" lvl="2">
              <a:lnSpc>
                <a:spcPts val="4806"/>
              </a:lnSpc>
              <a:buFont typeface="Arial"/>
              <a:buChar char="⚬"/>
            </a:pP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We use OneHotEncoder to process categorical variables.</a:t>
            </a:r>
          </a:p>
          <a:p>
            <a:pPr algn="l" marL="1165860" indent="-388620" lvl="2">
              <a:lnSpc>
                <a:spcPts val="4806"/>
              </a:lnSpc>
              <a:buFont typeface="Arial"/>
              <a:buChar char="⚬"/>
            </a:pP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This is applied to Store ID and Item Family to help the model distinguish between different store locations and product types.</a:t>
            </a:r>
          </a:p>
          <a:p>
            <a:pPr algn="l">
              <a:lnSpc>
                <a:spcPts val="4806"/>
              </a:lnSpc>
            </a:pPr>
            <a:r>
              <a:rPr lang="en-US" sz="2700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"We convert raw dates into meaningful features like 'Day of the Week' to capture weekly shopping trends. We also encode text data, like Store IDs, into a numerical format the machine can understand."</a:t>
            </a:r>
          </a:p>
          <a:p>
            <a:pPr algn="l">
              <a:lnSpc>
                <a:spcPts val="480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91011" y="713441"/>
            <a:ext cx="9446998" cy="77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0"/>
              </a:lnSpc>
            </a:pPr>
            <a:r>
              <a:rPr lang="en-US" sz="4514" b="true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MODEL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1011" y="1894178"/>
            <a:ext cx="12183721" cy="669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Algorithm: HistGradientBoostingRegressor.</a:t>
            </a:r>
          </a:p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Library: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Scikit-Learn.</a:t>
            </a:r>
          </a:p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this Model?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It is specifically optimized for large datasets.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It offers faster training times compared to traditional Random Forests.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It handles missing values natively.</a:t>
            </a:r>
          </a:p>
          <a:p>
            <a:pPr algn="l">
              <a:lnSpc>
                <a:spcPts val="4805"/>
              </a:lnSpc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"We chose the HistGradientBoostingRegressor because standard algorithms can be slow with large retail datasets. This algorithm buckets data into histograms, making it significantly faster and more efficient."</a:t>
            </a:r>
          </a:p>
          <a:p>
            <a:pPr algn="l">
              <a:lnSpc>
                <a:spcPts val="480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13714" y="1688001"/>
            <a:ext cx="13585879" cy="77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0"/>
              </a:lnSpc>
            </a:pPr>
            <a:r>
              <a:rPr lang="en-US" sz="4514" b="true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TRAINING PIPELINE &amp;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34166" y="2527561"/>
            <a:ext cx="13620468" cy="669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Workflow:</a:t>
            </a:r>
          </a:p>
          <a:p>
            <a:pPr algn="l" marL="1165857" indent="-388619" lvl="2">
              <a:lnSpc>
                <a:spcPts val="4805"/>
              </a:lnSpc>
              <a:buAutoNum type="alphaLcPeriod" startAt="1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Split: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The dataset is divided into Training and Testing sets.</a:t>
            </a:r>
          </a:p>
          <a:p>
            <a:pPr algn="l" marL="1165857" indent="-388619" lvl="2">
              <a:lnSpc>
                <a:spcPts val="4805"/>
              </a:lnSpc>
              <a:buAutoNum type="alphaLcPeriod" startAt="1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Pipeline: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We use a pipeline that combines Preprocessing and Model Fitting into a single step.</a:t>
            </a:r>
          </a:p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Performance Metrics: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The model is evaluated using: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MAE: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Mean Absolute Error.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RMSE: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Root Mean Squared Error.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 Score: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To measure accuracy.</a:t>
            </a:r>
          </a:p>
          <a:p>
            <a:pPr algn="l">
              <a:lnSpc>
                <a:spcPts val="4805"/>
              </a:lnSpc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         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"We use a unified pipeline to prevent data leakage during training. We evaluate                          the success of our model by minimizing the Mean Absolute Error."</a:t>
            </a:r>
          </a:p>
          <a:p>
            <a:pPr algn="l">
              <a:lnSpc>
                <a:spcPts val="480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1520" y="8882348"/>
            <a:ext cx="1057105" cy="1560999"/>
            <a:chOff x="0" y="0"/>
            <a:chExt cx="278414" cy="411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414" cy="411127"/>
            </a:xfrm>
            <a:custGeom>
              <a:avLst/>
              <a:gdLst/>
              <a:ahLst/>
              <a:cxnLst/>
              <a:rect r="r" b="b" t="t" l="l"/>
              <a:pathLst>
                <a:path h="411127" w="278414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0260" y="1173029"/>
            <a:ext cx="11707481" cy="77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0"/>
              </a:lnSpc>
            </a:pPr>
            <a:r>
              <a:rPr lang="en-US" sz="4514" b="true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PREDICTION &amp; ALERT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9876" y="1877516"/>
            <a:ext cx="13865107" cy="791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Forecasting: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The model generates a "Predicted Demand" value.</a:t>
            </a:r>
          </a:p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Decision Logic (The "Smart" Part):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Understock Alert: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Triggered if Current Stock is &lt; 0.8 (80%) of Predicted Demand.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Overstock Alert: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Triggered if Current Stock is &gt; 1.2 (120%) of Predicted Demand.</a:t>
            </a:r>
          </a:p>
          <a:p>
            <a:pPr algn="l" marL="1165857" indent="-388619" lvl="2">
              <a:lnSpc>
                <a:spcPts val="4805"/>
              </a:lnSpc>
              <a:buFont typeface="Arial"/>
              <a:buChar char="⚬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Balanced: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Any value between these thresholds.</a:t>
            </a:r>
          </a:p>
          <a:p>
            <a:pPr algn="l" marL="582928" indent="-291464" lvl="1">
              <a:lnSpc>
                <a:spcPts val="4805"/>
              </a:lnSpc>
              <a:buFont typeface="Arial"/>
              <a:buChar char="•"/>
            </a:pPr>
            <a:r>
              <a:rPr lang="en-US" b="true" sz="2699">
                <a:solidFill>
                  <a:srgbClr val="177AA4"/>
                </a:solidFill>
                <a:latin typeface="Telegraf Bold"/>
                <a:ea typeface="Telegraf Bold"/>
                <a:cs typeface="Telegraf Bold"/>
                <a:sym typeface="Telegraf Bold"/>
              </a:rPr>
              <a:t>Outcome: </a:t>
            </a: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Automated alerts are sent via Email (SMTP) or SMS (Twilio) based on these calculations.</a:t>
            </a:r>
          </a:p>
          <a:p>
            <a:pPr algn="l">
              <a:lnSpc>
                <a:spcPts val="4805"/>
              </a:lnSpc>
            </a:pPr>
            <a:r>
              <a:rPr lang="en-US" sz="2699">
                <a:solidFill>
                  <a:srgbClr val="177AA4"/>
                </a:solidFill>
                <a:latin typeface="Telegraf"/>
                <a:ea typeface="Telegraf"/>
                <a:cs typeface="Telegraf"/>
                <a:sym typeface="Telegraf"/>
              </a:rPr>
              <a:t> "We don't just predict numbers; we apply business logic. If the current stock drops below 80% of our prediction, the system automatically flags it as 'Understock' and alerts the manager."</a:t>
            </a:r>
          </a:p>
          <a:p>
            <a:pPr algn="l">
              <a:lnSpc>
                <a:spcPts val="480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451520" y="9292670"/>
            <a:ext cx="1057105" cy="47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401" y="6467736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90316" y="-234532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2013" y="-550882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0014137" y="9892464"/>
            <a:ext cx="3450594" cy="1101764"/>
          </a:xfrm>
          <a:custGeom>
            <a:avLst/>
            <a:gdLst/>
            <a:ahLst/>
            <a:cxnLst/>
            <a:rect r="r" b="b" t="t" l="l"/>
            <a:pathLst>
              <a:path h="1101764" w="3450594">
                <a:moveTo>
                  <a:pt x="0" y="0"/>
                </a:moveTo>
                <a:lnTo>
                  <a:pt x="3450594" y="0"/>
                </a:lnTo>
                <a:lnTo>
                  <a:pt x="3450594" y="1101765"/>
                </a:lnTo>
                <a:lnTo>
                  <a:pt x="0" y="1101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91011" y="-203628"/>
            <a:ext cx="3086100" cy="407256"/>
            <a:chOff x="0" y="0"/>
            <a:chExt cx="812800" cy="10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22524" y="10036091"/>
            <a:ext cx="3086100" cy="407256"/>
            <a:chOff x="0" y="0"/>
            <a:chExt cx="812800" cy="1072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7261"/>
            </a:xfrm>
            <a:custGeom>
              <a:avLst/>
              <a:gdLst/>
              <a:ahLst/>
              <a:cxnLst/>
              <a:rect r="r" b="b" t="t" l="l"/>
              <a:pathLst>
                <a:path h="1072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-87544"/>
            <a:ext cx="18288000" cy="10374544"/>
          </a:xfrm>
          <a:custGeom>
            <a:avLst/>
            <a:gdLst/>
            <a:ahLst/>
            <a:cxnLst/>
            <a:rect r="r" b="b" t="t" l="l"/>
            <a:pathLst>
              <a:path h="10374544" w="18288000">
                <a:moveTo>
                  <a:pt x="0" y="0"/>
                </a:moveTo>
                <a:lnTo>
                  <a:pt x="18288000" y="0"/>
                </a:lnTo>
                <a:lnTo>
                  <a:pt x="18288000" y="10374544"/>
                </a:lnTo>
                <a:lnTo>
                  <a:pt x="0" y="10374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8138" r="0" b="-3813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DAG8-fCBl9E</dc:identifier>
  <dcterms:modified xsi:type="dcterms:W3CDTF">2011-08-01T06:04:30Z</dcterms:modified>
  <cp:revision>1</cp:revision>
  <dc:title>Blue White Minimalist Professional Project Presentation</dc:title>
</cp:coreProperties>
</file>